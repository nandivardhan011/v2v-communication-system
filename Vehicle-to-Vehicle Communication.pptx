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4"/>
  </p:sldMasterIdLst>
  <p:notesMasterIdLst>
    <p:notesMasterId r:id="rId14"/>
  </p:notesMasterIdLst>
  <p:sldIdLst>
    <p:sldId id="271" r:id="rId5"/>
    <p:sldId id="300" r:id="rId6"/>
    <p:sldId id="306" r:id="rId7"/>
    <p:sldId id="307" r:id="rId8"/>
    <p:sldId id="308" r:id="rId9"/>
    <p:sldId id="309" r:id="rId10"/>
    <p:sldId id="312" r:id="rId11"/>
    <p:sldId id="301" r:id="rId12"/>
    <p:sldId id="30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94647" autoAdjust="0"/>
  </p:normalViewPr>
  <p:slideViewPr>
    <p:cSldViewPr snapToGrid="0">
      <p:cViewPr>
        <p:scale>
          <a:sx n="66" d="100"/>
          <a:sy n="66" d="100"/>
        </p:scale>
        <p:origin x="1301" y="31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2/28/2026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dirty="0"/>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2</a:t>
            </a:fld>
            <a:endParaRPr lang="en-US" dirty="0"/>
          </a:p>
        </p:txBody>
      </p:sp>
    </p:spTree>
    <p:extLst>
      <p:ext uri="{BB962C8B-B14F-4D97-AF65-F5344CB8AC3E}">
        <p14:creationId xmlns:p14="http://schemas.microsoft.com/office/powerpoint/2010/main" val="3434968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6</a:t>
            </a:fld>
            <a:endParaRPr lang="en-US" dirty="0"/>
          </a:p>
        </p:txBody>
      </p:sp>
    </p:spTree>
    <p:extLst>
      <p:ext uri="{BB962C8B-B14F-4D97-AF65-F5344CB8AC3E}">
        <p14:creationId xmlns:p14="http://schemas.microsoft.com/office/powerpoint/2010/main" val="1954798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E934FF-F4E1-47C5-9CA5-30A81DDE2BE4}" type="datetimeFigureOut">
              <a:rPr lang="en-US" smtClean="0">
                <a:solidFill>
                  <a:prstClr val="black">
                    <a:tint val="75000"/>
                  </a:prstClr>
                </a:solidFill>
              </a:rPr>
              <a:pPr/>
              <a:t>2/28/2026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680411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E934FF-F4E1-47C5-9CA5-30A81DDE2BE4}" type="datetimeFigureOut">
              <a:rPr lang="en-US" smtClean="0">
                <a:solidFill>
                  <a:prstClr val="black">
                    <a:tint val="75000"/>
                  </a:prstClr>
                </a:solidFill>
              </a:rPr>
              <a:pPr/>
              <a:t>2/28/2026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85666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E934FF-F4E1-47C5-9CA5-30A81DDE2BE4}" type="datetimeFigureOut">
              <a:rPr lang="en-US" smtClean="0">
                <a:solidFill>
                  <a:prstClr val="black">
                    <a:tint val="75000"/>
                  </a:prstClr>
                </a:solidFill>
              </a:rPr>
              <a:pPr/>
              <a:t>2/28/2026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682263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E934FF-F4E1-47C5-9CA5-30A81DDE2BE4}" type="datetimeFigureOut">
              <a:rPr lang="en-US" smtClean="0">
                <a:solidFill>
                  <a:prstClr val="black">
                    <a:tint val="75000"/>
                  </a:prstClr>
                </a:solidFill>
              </a:rPr>
              <a:pPr/>
              <a:t>2/28/2026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24593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E934FF-F4E1-47C5-9CA5-30A81DDE2BE4}" type="datetimeFigureOut">
              <a:rPr lang="en-US" smtClean="0">
                <a:solidFill>
                  <a:prstClr val="black">
                    <a:tint val="75000"/>
                  </a:prstClr>
                </a:solidFill>
              </a:rPr>
              <a:pPr/>
              <a:t>2/28/2026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99177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E934FF-F4E1-47C5-9CA5-30A81DDE2BE4}" type="datetimeFigureOut">
              <a:rPr lang="en-US" smtClean="0">
                <a:solidFill>
                  <a:prstClr val="black">
                    <a:tint val="75000"/>
                  </a:prstClr>
                </a:solidFill>
              </a:rPr>
              <a:pPr/>
              <a:t>2/28/2026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655884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934FF-F4E1-47C5-9CA5-30A81DDE2BE4}" type="datetimeFigureOut">
              <a:rPr lang="en-US" smtClean="0">
                <a:solidFill>
                  <a:prstClr val="black">
                    <a:tint val="75000"/>
                  </a:prstClr>
                </a:solidFill>
              </a:rPr>
              <a:pPr/>
              <a:t>2/28/2026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28765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2/28/2026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09433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E934FF-F4E1-47C5-9CA5-30A81DDE2BE4}" type="datetimeFigureOut">
              <a:rPr lang="en-US" smtClean="0">
                <a:solidFill>
                  <a:prstClr val="black">
                    <a:tint val="75000"/>
                  </a:prstClr>
                </a:solidFill>
              </a:rPr>
              <a:pPr/>
              <a:t>2/28/2026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777486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39968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E934FF-F4E1-47C5-9CA5-30A81DDE2BE4}" type="datetimeFigureOut">
              <a:rPr lang="en-US" smtClean="0">
                <a:solidFill>
                  <a:prstClr val="black">
                    <a:tint val="75000"/>
                  </a:prstClr>
                </a:solidFill>
              </a:rPr>
              <a:pPr/>
              <a:t>2/28/2026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4496758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3280756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2/28/2026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pic>
        <p:nvPicPr>
          <p:cNvPr id="7" name="Picture 6" descr="Background pattern&#10;&#10;Description automatically generated">
            <a:extLst>
              <a:ext uri="{FF2B5EF4-FFF2-40B4-BE49-F238E27FC236}">
                <a16:creationId xmlns:a16="http://schemas.microsoft.com/office/drawing/2014/main" id="{11D51461-FD58-D2EA-82C5-D24B223E11BE}"/>
              </a:ext>
            </a:extLst>
          </p:cNvPr>
          <p:cNvPicPr>
            <a:picLocks noChangeAspect="1"/>
          </p:cNvPicPr>
          <p:nvPr userDrawn="1"/>
        </p:nvPicPr>
        <p:blipFill>
          <a:blip r:embed="rId14">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8" name="Rectangle 7">
            <a:extLst>
              <a:ext uri="{FF2B5EF4-FFF2-40B4-BE49-F238E27FC236}">
                <a16:creationId xmlns:a16="http://schemas.microsoft.com/office/drawing/2014/main" id="{4F866BB4-E3D7-F19E-E650-A131809A3E35}"/>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1E3CE62-6178-6CD9-9BAF-0352AAC72C8A}"/>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Background pattern&#10;&#10;Description automatically generated">
            <a:extLst>
              <a:ext uri="{FF2B5EF4-FFF2-40B4-BE49-F238E27FC236}">
                <a16:creationId xmlns:a16="http://schemas.microsoft.com/office/drawing/2014/main" id="{4CD6443C-48CA-7267-C051-C7BB19E8E098}"/>
              </a:ext>
            </a:extLst>
          </p:cNvPr>
          <p:cNvPicPr>
            <a:picLocks noChangeAspect="1"/>
          </p:cNvPicPr>
          <p:nvPr userDrawn="1"/>
        </p:nvPicPr>
        <p:blipFill rotWithShape="1">
          <a:blip r:embed="rId15">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11" name="TextBox 10">
            <a:extLst>
              <a:ext uri="{FF2B5EF4-FFF2-40B4-BE49-F238E27FC236}">
                <a16:creationId xmlns:a16="http://schemas.microsoft.com/office/drawing/2014/main" id="{ADD86357-3811-E118-1A2B-C6098472960B}"/>
              </a:ext>
            </a:extLst>
          </p:cNvPr>
          <p:cNvSpPr txBox="1"/>
          <p:nvPr userDrawn="1"/>
        </p:nvSpPr>
        <p:spPr>
          <a:xfrm>
            <a:off x="1" y="6602979"/>
            <a:ext cx="2132068" cy="215444"/>
          </a:xfrm>
          <a:prstGeom prst="rect">
            <a:avLst/>
          </a:prstGeom>
          <a:noFill/>
        </p:spPr>
        <p:txBody>
          <a:bodyPr wrap="square" rtlCol="0">
            <a:spAutoFit/>
          </a:bodyPr>
          <a:lstStyle/>
          <a:p>
            <a:r>
              <a:rPr lang="en-US" sz="800" dirty="0">
                <a:solidFill>
                  <a:schemeClr val="bg1">
                    <a:lumMod val="95000"/>
                  </a:schemeClr>
                </a:solidFill>
              </a:rPr>
              <a:t>CREATED BY K. VICTOR BABU</a:t>
            </a:r>
          </a:p>
        </p:txBody>
      </p:sp>
    </p:spTree>
    <p:extLst>
      <p:ext uri="{BB962C8B-B14F-4D97-AF65-F5344CB8AC3E}">
        <p14:creationId xmlns:p14="http://schemas.microsoft.com/office/powerpoint/2010/main" val="610360527"/>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hyperlink" Target="https://openclipart.org/detail/104197/calendrier--calendar-by-lmproulx"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openclipart.org/detail/104197/calendrier--calendar-by-lmproulx" TargetMode="External"/><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hyperlink" Target="https://openclipart.org/detail/104197/calendrier--calendar-by-lmproulx" TargetMode="External"/><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6263" y="23628"/>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3688390" y="652764"/>
            <a:ext cx="4570738" cy="678327"/>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6" name="Google Shape;476;p16"/>
          <p:cNvSpPr txBox="1"/>
          <p:nvPr/>
        </p:nvSpPr>
        <p:spPr>
          <a:xfrm>
            <a:off x="1632956" y="1927635"/>
            <a:ext cx="8681606" cy="243139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IN" sz="2800" b="1" dirty="0">
                <a:latin typeface="Times New Roman" panose="02020603050405020304" pitchFamily="18" charset="0"/>
                <a:cs typeface="Times New Roman" panose="02020603050405020304" pitchFamily="18" charset="0"/>
              </a:rPr>
              <a:t>EMBEDDED PROTOTYPE</a:t>
            </a:r>
          </a:p>
          <a:p>
            <a:pPr marR="0" lvl="0" indent="0" algn="ctr">
              <a:spcBef>
                <a:spcPts val="0"/>
              </a:spcBef>
              <a:spcAft>
                <a:spcPts val="0"/>
              </a:spcAft>
              <a:buNone/>
            </a:pPr>
            <a:endParaRPr lang="en-IN" sz="2800" dirty="0">
              <a:latin typeface="Times New Roman" panose="02020603050405020304" pitchFamily="18" charset="0"/>
              <a:cs typeface="Times New Roman" panose="02020603050405020304" pitchFamily="18" charset="0"/>
            </a:endParaRPr>
          </a:p>
          <a:p>
            <a:pPr marR="0" lvl="0" indent="0" algn="ctr">
              <a:spcBef>
                <a:spcPts val="0"/>
              </a:spcBef>
              <a:spcAft>
                <a:spcPts val="0"/>
              </a:spcAft>
              <a:buNone/>
            </a:pPr>
            <a:r>
              <a:rPr lang="en-US" sz="2800" dirty="0">
                <a:solidFill>
                  <a:srgbClr val="0070C0"/>
                </a:solidFill>
                <a:latin typeface="Times New Roman" panose="02020603050405020304" pitchFamily="18" charset="0"/>
                <a:cs typeface="Times New Roman" panose="02020603050405020304" pitchFamily="18" charset="0"/>
              </a:rPr>
              <a:t>Real-Time Vehicle-to-Vehicle Communication System for Collision Prevention and Emergency Priority</a:t>
            </a:r>
          </a:p>
          <a:p>
            <a:pPr marR="0" lvl="0" indent="0" algn="ctr">
              <a:spcBef>
                <a:spcPts val="0"/>
              </a:spcBef>
              <a:spcAft>
                <a:spcPts val="0"/>
              </a:spcAft>
              <a:buNone/>
            </a:pPr>
            <a:r>
              <a:rPr lang="en-US" sz="4000" b="1" cap="all" dirty="0">
                <a:ln/>
                <a:solidFill>
                  <a:srgbClr val="C00000"/>
                </a:solidFill>
                <a:cs typeface="Poppins" panose="00000500000000000000" pitchFamily="2" charset="0"/>
              </a:rPr>
              <a:t> </a:t>
            </a:r>
            <a:endParaRPr lang="en-US" sz="4000" b="1" dirty="0">
              <a:solidFill>
                <a:srgbClr val="C00000"/>
              </a:solidFill>
              <a:effectLst/>
              <a:cs typeface="Poppins" panose="00000500000000000000" pitchFamily="2" charset="0"/>
            </a:endParaRPr>
          </a:p>
        </p:txBody>
      </p:sp>
      <p:sp>
        <p:nvSpPr>
          <p:cNvPr id="475" name="Google Shape;475;p16"/>
          <p:cNvSpPr txBox="1"/>
          <p:nvPr/>
        </p:nvSpPr>
        <p:spPr>
          <a:xfrm>
            <a:off x="3715129" y="612744"/>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b="1" dirty="0">
                <a:solidFill>
                  <a:srgbClr val="C00000"/>
                </a:solidFill>
                <a:latin typeface="Agency FB" panose="020B0503020202020204" pitchFamily="34" charset="0"/>
                <a:cs typeface="Poppins" pitchFamily="2" charset="77"/>
              </a:rPr>
              <a:t>Department of ECE </a:t>
            </a:r>
          </a:p>
        </p:txBody>
      </p:sp>
      <p:sp>
        <p:nvSpPr>
          <p:cNvPr id="8" name="Google Shape;502;p17">
            <a:extLst>
              <a:ext uri="{FF2B5EF4-FFF2-40B4-BE49-F238E27FC236}">
                <a16:creationId xmlns:a16="http://schemas.microsoft.com/office/drawing/2014/main" id="{7153E61F-4441-DBE3-3DFF-6E9EF6C48D23}"/>
              </a:ext>
            </a:extLst>
          </p:cNvPr>
          <p:cNvSpPr/>
          <p:nvPr/>
        </p:nvSpPr>
        <p:spPr>
          <a:xfrm>
            <a:off x="6343822" y="4265971"/>
            <a:ext cx="4906328" cy="2522682"/>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lgn="ctr"/>
            <a:r>
              <a:rPr lang="en-US" sz="2400" dirty="0">
                <a:solidFill>
                  <a:schemeClr val="lt1"/>
                </a:solidFill>
                <a:latin typeface="Tw Cen MT Condensed" panose="020B0606020104020203" pitchFamily="34" charset="0"/>
                <a:ea typeface="Calibri"/>
                <a:cs typeface="Poppins" panose="00000500000000000000" pitchFamily="2" charset="0"/>
                <a:sym typeface="Calibri"/>
              </a:rPr>
              <a:t>PRESENTED BY:-</a:t>
            </a:r>
          </a:p>
          <a:p>
            <a:pPr lvl="0" algn="ctr"/>
            <a:r>
              <a:rPr lang="en-US" sz="2400" dirty="0">
                <a:solidFill>
                  <a:schemeClr val="lt1"/>
                </a:solidFill>
                <a:latin typeface="Tw Cen MT Condensed" panose="020B0606020104020203" pitchFamily="34" charset="0"/>
                <a:ea typeface="Calibri"/>
                <a:cs typeface="Poppins" panose="00000500000000000000" pitchFamily="2" charset="0"/>
                <a:sym typeface="Calibri"/>
              </a:rPr>
              <a:t>B NANDIVARDHAN REDDY(2300049094)</a:t>
            </a:r>
          </a:p>
          <a:p>
            <a:pPr lvl="0" algn="ctr"/>
            <a:r>
              <a:rPr lang="en-US" sz="2400" dirty="0">
                <a:solidFill>
                  <a:schemeClr val="bg1">
                    <a:lumMod val="95000"/>
                  </a:schemeClr>
                </a:solidFill>
                <a:latin typeface="Tw Cen MT Condensed" panose="020B0606020104020203" pitchFamily="34" charset="0"/>
                <a:ea typeface="Calibri"/>
                <a:cs typeface="Poppins" panose="00000500000000000000" pitchFamily="2" charset="0"/>
                <a:sym typeface="Calibri"/>
              </a:rPr>
              <a:t>R. GAYATRI(2300049060)</a:t>
            </a:r>
          </a:p>
          <a:p>
            <a:pPr lvl="0" algn="ctr"/>
            <a:r>
              <a:rPr lang="en-US" sz="2400" dirty="0">
                <a:solidFill>
                  <a:schemeClr val="bg1">
                    <a:lumMod val="95000"/>
                  </a:schemeClr>
                </a:solidFill>
                <a:latin typeface="Tw Cen MT Condensed" panose="020B0606020104020203" pitchFamily="34" charset="0"/>
                <a:ea typeface="Calibri"/>
                <a:cs typeface="Poppins" panose="00000500000000000000" pitchFamily="2" charset="0"/>
                <a:sym typeface="Calibri"/>
              </a:rPr>
              <a:t>ARUMILLI GOVARSHITHA(2300049132)</a:t>
            </a: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2" descr="KL Deemed to be University Logo"/>
          <p:cNvPicPr>
            <a:picLocks noChangeAspect="1" noChangeArrowheads="1"/>
          </p:cNvPicPr>
          <p:nvPr/>
        </p:nvPicPr>
        <p:blipFill>
          <a:blip r:embed="rId3"/>
          <a:srcRect/>
          <a:stretch>
            <a:fillRect/>
          </a:stretch>
        </p:blipFill>
        <p:spPr bwMode="auto">
          <a:xfrm>
            <a:off x="183374" y="183077"/>
            <a:ext cx="2509863" cy="1061599"/>
          </a:xfrm>
          <a:prstGeom prst="rect">
            <a:avLst/>
          </a:prstGeom>
          <a:noFill/>
        </p:spPr>
      </p:pic>
      <p:sp>
        <p:nvSpPr>
          <p:cNvPr id="3" name="Google Shape;502;p17">
            <a:extLst>
              <a:ext uri="{FF2B5EF4-FFF2-40B4-BE49-F238E27FC236}">
                <a16:creationId xmlns:a16="http://schemas.microsoft.com/office/drawing/2014/main" id="{69EB8789-8FFB-3760-54FE-61C28F603F16}"/>
              </a:ext>
            </a:extLst>
          </p:cNvPr>
          <p:cNvSpPr/>
          <p:nvPr/>
        </p:nvSpPr>
        <p:spPr>
          <a:xfrm>
            <a:off x="617885" y="4265971"/>
            <a:ext cx="4906328" cy="2522682"/>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lgn="ctr"/>
            <a:r>
              <a:rPr lang="en-US" sz="2400" dirty="0">
                <a:solidFill>
                  <a:schemeClr val="lt1"/>
                </a:solidFill>
                <a:latin typeface="Tw Cen MT Condensed" panose="020B0606020104020203" pitchFamily="34" charset="0"/>
                <a:ea typeface="Calibri"/>
                <a:cs typeface="Poppins" panose="00000500000000000000" pitchFamily="2" charset="0"/>
                <a:sym typeface="Calibri"/>
              </a:rPr>
              <a:t>GUIDED BY:-</a:t>
            </a:r>
          </a:p>
          <a:p>
            <a:pPr lvl="0" algn="ctr"/>
            <a:r>
              <a:rPr lang="en-US" sz="2400" dirty="0">
                <a:solidFill>
                  <a:schemeClr val="lt1"/>
                </a:solidFill>
                <a:latin typeface="Tw Cen MT Condensed" panose="020B0606020104020203" pitchFamily="34" charset="0"/>
                <a:ea typeface="Calibri"/>
                <a:cs typeface="Poppins" panose="00000500000000000000" pitchFamily="2" charset="0"/>
                <a:sym typeface="Calibri"/>
              </a:rPr>
              <a:t>Dr.N.PRABAKARAN</a:t>
            </a:r>
            <a:br>
              <a:rPr lang="en-US" sz="2400" dirty="0">
                <a:solidFill>
                  <a:schemeClr val="lt1"/>
                </a:solidFill>
                <a:latin typeface="Tw Cen MT Condensed" panose="020B0606020104020203" pitchFamily="34" charset="0"/>
                <a:ea typeface="Calibri"/>
                <a:cs typeface="Poppins" panose="00000500000000000000" pitchFamily="2" charset="0"/>
                <a:sym typeface="Calibri"/>
              </a:rPr>
            </a:br>
            <a:r>
              <a:rPr lang="en-US" sz="2400" dirty="0">
                <a:solidFill>
                  <a:schemeClr val="lt1"/>
                </a:solidFill>
                <a:latin typeface="Tw Cen MT Condensed" panose="020B0606020104020203" pitchFamily="34" charset="0"/>
                <a:ea typeface="Calibri"/>
                <a:cs typeface="Poppins" panose="00000500000000000000" pitchFamily="2" charset="0"/>
                <a:sym typeface="Calibri"/>
              </a:rPr>
              <a:t>Associate Professor</a:t>
            </a:r>
            <a:br>
              <a:rPr lang="en-US" sz="2400" dirty="0">
                <a:solidFill>
                  <a:schemeClr val="lt1"/>
                </a:solidFill>
                <a:latin typeface="Tw Cen MT Condensed" panose="020B0606020104020203" pitchFamily="34" charset="0"/>
                <a:ea typeface="Calibri"/>
                <a:cs typeface="Poppins" panose="00000500000000000000" pitchFamily="2" charset="0"/>
                <a:sym typeface="Calibri"/>
              </a:rPr>
            </a:br>
            <a:r>
              <a:rPr lang="en-US" sz="2400" dirty="0">
                <a:solidFill>
                  <a:schemeClr val="lt1"/>
                </a:solidFill>
                <a:latin typeface="Tw Cen MT Condensed" panose="020B0606020104020203" pitchFamily="34" charset="0"/>
                <a:ea typeface="Calibri"/>
                <a:cs typeface="Poppins" panose="00000500000000000000" pitchFamily="2" charset="0"/>
                <a:sym typeface="Calibri"/>
              </a:rPr>
              <a:t>Dept of ECE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114563" y="381453"/>
            <a:ext cx="384671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Objective</a:t>
            </a:r>
            <a:endParaRPr lang="en-US" sz="2400" dirty="0">
              <a:latin typeface="Agency FB" panose="020B0503020202020204" pitchFamily="34" charset="0"/>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8053" y="1372388"/>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78189" y="1278728"/>
            <a:ext cx="914400" cy="914400"/>
          </a:xfrm>
          <a:prstGeom prst="rect">
            <a:avLst/>
          </a:prstGeom>
        </p:spPr>
      </p:pic>
      <p:pic>
        <p:nvPicPr>
          <p:cNvPr id="12" name="Picture 2" descr="KL Deemed to be University Logo"/>
          <p:cNvPicPr>
            <a:picLocks noChangeAspect="1" noChangeArrowheads="1"/>
          </p:cNvPicPr>
          <p:nvPr/>
        </p:nvPicPr>
        <p:blipFill>
          <a:blip r:embed="rId7"/>
          <a:srcRect/>
          <a:stretch>
            <a:fillRect/>
          </a:stretch>
        </p:blipFill>
        <p:spPr bwMode="auto">
          <a:xfrm>
            <a:off x="283730" y="172075"/>
            <a:ext cx="1990725" cy="600076"/>
          </a:xfrm>
          <a:prstGeom prst="rect">
            <a:avLst/>
          </a:prstGeom>
          <a:noFill/>
        </p:spPr>
      </p:pic>
      <p:sp>
        <p:nvSpPr>
          <p:cNvPr id="25" name="Content Placeholder 2">
            <a:extLst>
              <a:ext uri="{FF2B5EF4-FFF2-40B4-BE49-F238E27FC236}">
                <a16:creationId xmlns:a16="http://schemas.microsoft.com/office/drawing/2014/main" id="{95B371F2-DBA5-415A-82C8-651F587B857A}"/>
              </a:ext>
            </a:extLst>
          </p:cNvPr>
          <p:cNvSpPr>
            <a:spLocks noGrp="1"/>
          </p:cNvSpPr>
          <p:nvPr/>
        </p:nvSpPr>
        <p:spPr>
          <a:xfrm>
            <a:off x="1918665" y="1232730"/>
            <a:ext cx="7720235" cy="4481441"/>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buFont typeface="Arial" panose="020B0604020202020204" pitchFamily="34" charset="0"/>
              <a:buNone/>
              <a:defRPr sz="1600" kern="1200">
                <a:solidFill>
                  <a:schemeClr val="accent2">
                    <a:lumMod val="50000"/>
                  </a:schemeClr>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2000" kern="1200">
                <a:solidFill>
                  <a:schemeClr val="tx2">
                    <a:lumMod val="50000"/>
                  </a:schemeClr>
                </a:solidFill>
                <a:latin typeface="+mn-lt"/>
                <a:ea typeface="+mn-ea"/>
                <a:cs typeface="+mn-cs"/>
              </a:defRPr>
            </a:lvl2pPr>
            <a:lvl3pPr marL="914400" indent="0" algn="l" defTabSz="914400" rtl="0" eaLnBrk="1" latinLnBrk="0" hangingPunct="1">
              <a:lnSpc>
                <a:spcPct val="150000"/>
              </a:lnSpc>
              <a:spcBef>
                <a:spcPts val="500"/>
              </a:spcBef>
              <a:buFont typeface="Arial" panose="020B0604020202020204" pitchFamily="34" charset="0"/>
              <a:buNone/>
              <a:defRPr sz="1800" kern="1200">
                <a:solidFill>
                  <a:schemeClr val="tx2">
                    <a:lumMod val="50000"/>
                  </a:schemeClr>
                </a:solidFill>
                <a:latin typeface="+mn-lt"/>
                <a:ea typeface="+mn-ea"/>
                <a:cs typeface="+mn-cs"/>
              </a:defRPr>
            </a:lvl3pPr>
            <a:lvl4pPr marL="1371600" indent="0" algn="l" defTabSz="914400" rtl="0" eaLnBrk="1" latinLnBrk="0" hangingPunct="1">
              <a:lnSpc>
                <a:spcPct val="150000"/>
              </a:lnSpc>
              <a:spcBef>
                <a:spcPts val="500"/>
              </a:spcBef>
              <a:buFont typeface="Arial" panose="020B0604020202020204" pitchFamily="34" charset="0"/>
              <a:buNone/>
              <a:defRPr sz="1600" kern="1200">
                <a:solidFill>
                  <a:schemeClr val="tx2">
                    <a:lumMod val="50000"/>
                  </a:schemeClr>
                </a:solidFill>
                <a:latin typeface="+mn-lt"/>
                <a:ea typeface="+mn-ea"/>
                <a:cs typeface="+mn-cs"/>
              </a:defRPr>
            </a:lvl4pPr>
            <a:lvl5pPr marL="1828800" indent="0" algn="l" defTabSz="914400" rtl="0" eaLnBrk="1" latinLnBrk="0" hangingPunct="1">
              <a:lnSpc>
                <a:spcPct val="150000"/>
              </a:lnSpc>
              <a:spcBef>
                <a:spcPts val="500"/>
              </a:spcBef>
              <a:buFont typeface="Arial" panose="020B0604020202020204" pitchFamily="34" charset="0"/>
              <a:buNone/>
              <a:defRPr sz="1600" kern="1200">
                <a:solidFill>
                  <a:schemeClr val="tx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dirty="0"/>
          </a:p>
        </p:txBody>
      </p:sp>
      <p:pic>
        <p:nvPicPr>
          <p:cNvPr id="29" name="Picture 28">
            <a:extLst>
              <a:ext uri="{FF2B5EF4-FFF2-40B4-BE49-F238E27FC236}">
                <a16:creationId xmlns:a16="http://schemas.microsoft.com/office/drawing/2014/main" id="{EFDF1180-A8DA-9BC5-3609-BDC53A0ECB2E}"/>
              </a:ext>
            </a:extLst>
          </p:cNvPr>
          <p:cNvPicPr>
            <a:picLocks noChangeAspect="1"/>
          </p:cNvPicPr>
          <p:nvPr/>
        </p:nvPicPr>
        <p:blipFill>
          <a:blip r:embed="rId8" cstate="print">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509157" y="4224324"/>
            <a:ext cx="1055356" cy="1061994"/>
          </a:xfrm>
          <a:prstGeom prst="rect">
            <a:avLst/>
          </a:prstGeom>
        </p:spPr>
      </p:pic>
      <p:sp>
        <p:nvSpPr>
          <p:cNvPr id="10" name="Rectangle 5">
            <a:extLst>
              <a:ext uri="{FF2B5EF4-FFF2-40B4-BE49-F238E27FC236}">
                <a16:creationId xmlns:a16="http://schemas.microsoft.com/office/drawing/2014/main" id="{FC1E6B17-27B6-F654-A1DE-CC9185B6A7D4}"/>
              </a:ext>
            </a:extLst>
          </p:cNvPr>
          <p:cNvSpPr>
            <a:spLocks noChangeArrowheads="1"/>
          </p:cNvSpPr>
          <p:nvPr/>
        </p:nvSpPr>
        <p:spPr bwMode="auto">
          <a:xfrm>
            <a:off x="1564513" y="2974581"/>
            <a:ext cx="9385736" cy="56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20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3" name="Rectangle 2">
            <a:extLst>
              <a:ext uri="{FF2B5EF4-FFF2-40B4-BE49-F238E27FC236}">
                <a16:creationId xmlns:a16="http://schemas.microsoft.com/office/drawing/2014/main" id="{DD3B2839-B883-A0EA-36E3-AB702FE3628D}"/>
              </a:ext>
            </a:extLst>
          </p:cNvPr>
          <p:cNvSpPr>
            <a:spLocks noChangeArrowheads="1"/>
          </p:cNvSpPr>
          <p:nvPr/>
        </p:nvSpPr>
        <p:spPr bwMode="auto">
          <a:xfrm rot="10800000" flipV="1">
            <a:off x="1749202" y="1333757"/>
            <a:ext cx="8577440" cy="3892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real-time V2V communication between vehicles.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collision warning and sudden brake alerts.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 accidents using sensors.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emergency vehicle priority mode.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hazard memory for cooperative awareness.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low-latency wireless communication.</a:t>
            </a:r>
          </a:p>
        </p:txBody>
      </p:sp>
    </p:spTree>
    <p:extLst>
      <p:ext uri="{BB962C8B-B14F-4D97-AF65-F5344CB8AC3E}">
        <p14:creationId xmlns:p14="http://schemas.microsoft.com/office/powerpoint/2010/main" val="1388607984"/>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17">
            <a:extLst>
              <a:ext uri="{FF2B5EF4-FFF2-40B4-BE49-F238E27FC236}">
                <a16:creationId xmlns:a16="http://schemas.microsoft.com/office/drawing/2014/main" id="{7F3AABB0-F8BA-C900-B6BF-45F4B58E9490}"/>
              </a:ext>
            </a:extLst>
          </p:cNvPr>
          <p:cNvSpPr/>
          <p:nvPr/>
        </p:nvSpPr>
        <p:spPr>
          <a:xfrm>
            <a:off x="4052630" y="429977"/>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Problem Statement</a:t>
            </a:r>
            <a:endParaRPr lang="en-US" sz="2400" dirty="0">
              <a:latin typeface="Agency FB" panose="020B0503020202020204" pitchFamily="34" charset="0"/>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7334" y="820675"/>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77600" y="452853"/>
            <a:ext cx="914400" cy="914400"/>
          </a:xfrm>
          <a:prstGeom prst="rect">
            <a:avLst/>
          </a:prstGeom>
        </p:spPr>
      </p:pic>
      <p:pic>
        <p:nvPicPr>
          <p:cNvPr id="12" name="Picture 2" descr="KL Deemed to be University Logo"/>
          <p:cNvPicPr>
            <a:picLocks noChangeAspect="1" noChangeArrowheads="1"/>
          </p:cNvPicPr>
          <p:nvPr/>
        </p:nvPicPr>
        <p:blipFill>
          <a:blip r:embed="rId6"/>
          <a:srcRect/>
          <a:stretch>
            <a:fillRect/>
          </a:stretch>
        </p:blipFill>
        <p:spPr bwMode="auto">
          <a:xfrm>
            <a:off x="197974" y="152815"/>
            <a:ext cx="1990725" cy="600076"/>
          </a:xfrm>
          <a:prstGeom prst="rect">
            <a:avLst/>
          </a:prstGeom>
          <a:noFill/>
        </p:spPr>
      </p:pic>
      <p:pic>
        <p:nvPicPr>
          <p:cNvPr id="6" name="Picture 5">
            <a:extLst>
              <a:ext uri="{FF2B5EF4-FFF2-40B4-BE49-F238E27FC236}">
                <a16:creationId xmlns:a16="http://schemas.microsoft.com/office/drawing/2014/main" id="{0BBB7335-B363-2010-15DF-274D9FE5DCF1}"/>
              </a:ext>
            </a:extLst>
          </p:cNvPr>
          <p:cNvPicPr>
            <a:picLocks noChangeAspect="1"/>
          </p:cNvPicPr>
          <p:nvPr/>
        </p:nvPicPr>
        <p:blipFill>
          <a:blip r:embed="rId7" cstate="print">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197974" y="5170680"/>
            <a:ext cx="1055356" cy="1061994"/>
          </a:xfrm>
          <a:prstGeom prst="rect">
            <a:avLst/>
          </a:prstGeom>
        </p:spPr>
      </p:pic>
      <p:sp>
        <p:nvSpPr>
          <p:cNvPr id="3" name="Rectangle 1">
            <a:extLst>
              <a:ext uri="{FF2B5EF4-FFF2-40B4-BE49-F238E27FC236}">
                <a16:creationId xmlns:a16="http://schemas.microsoft.com/office/drawing/2014/main" id="{39ECAE0B-B3B4-1B56-54AB-4D5A7BCBD372}"/>
              </a:ext>
            </a:extLst>
          </p:cNvPr>
          <p:cNvSpPr>
            <a:spLocks noChangeArrowheads="1"/>
          </p:cNvSpPr>
          <p:nvPr/>
        </p:nvSpPr>
        <p:spPr bwMode="auto">
          <a:xfrm rot="10800000" flipV="1">
            <a:off x="1120875" y="990074"/>
            <a:ext cx="1042219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sz="2800" dirty="0">
                <a:latin typeface="Times New Roman" panose="02020603050405020304" pitchFamily="18" charset="0"/>
                <a:cs typeface="Times New Roman" panose="02020603050405020304" pitchFamily="18" charset="0"/>
              </a:rPr>
              <a:t>	Road accidents occur due to lack of communication between vehicles and delayed driver response. Emergency vehicles also face traffic delays due to low awareness. Current safety technologies are expensive and not accessible to all vehicles.</a:t>
            </a:r>
          </a:p>
          <a:p>
            <a:pPr lvl="0" defTabSz="914400" eaLnBrk="0" fontAlgn="base" hangingPunct="0">
              <a:spcBef>
                <a:spcPct val="0"/>
              </a:spcBef>
              <a:spcAft>
                <a:spcPct val="0"/>
              </a:spcAf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Road accidents occur due to lack of communication between vehicles.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Drivers cannot predict sudden braking or nearby hazards.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Emergency vehicles face delays in traffic.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safety systems are expensive and limited to high-end vehicles.</a:t>
            </a:r>
          </a:p>
        </p:txBody>
      </p:sp>
    </p:spTree>
    <p:extLst>
      <p:ext uri="{BB962C8B-B14F-4D97-AF65-F5344CB8AC3E}">
        <p14:creationId xmlns:p14="http://schemas.microsoft.com/office/powerpoint/2010/main" val="1891695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7227" y="1463818"/>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92798" y="1249628"/>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111687" y="957299"/>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Hardware &amp; Software Tools</a:t>
            </a:r>
            <a:endParaRPr lang="en-US" sz="2400" dirty="0">
              <a:latin typeface="Agency FB" panose="020B0503020202020204" pitchFamily="34" charset="0"/>
            </a:endParaRPr>
          </a:p>
        </p:txBody>
      </p:sp>
      <p:pic>
        <p:nvPicPr>
          <p:cNvPr id="12" name="Picture 2" descr="KL Deemed to be University Logo"/>
          <p:cNvPicPr>
            <a:picLocks noChangeAspect="1" noChangeArrowheads="1"/>
          </p:cNvPicPr>
          <p:nvPr/>
        </p:nvPicPr>
        <p:blipFill>
          <a:blip r:embed="rId6"/>
          <a:srcRect/>
          <a:stretch>
            <a:fillRect/>
          </a:stretch>
        </p:blipFill>
        <p:spPr bwMode="auto">
          <a:xfrm>
            <a:off x="193287" y="265471"/>
            <a:ext cx="1990725" cy="600076"/>
          </a:xfrm>
          <a:prstGeom prst="rect">
            <a:avLst/>
          </a:prstGeom>
          <a:noFill/>
        </p:spPr>
      </p:pic>
      <p:pic>
        <p:nvPicPr>
          <p:cNvPr id="2" name="Picture 1">
            <a:extLst>
              <a:ext uri="{FF2B5EF4-FFF2-40B4-BE49-F238E27FC236}">
                <a16:creationId xmlns:a16="http://schemas.microsoft.com/office/drawing/2014/main" id="{11C05DA6-F906-58A0-B783-9F6EBCD019AF}"/>
              </a:ext>
            </a:extLst>
          </p:cNvPr>
          <p:cNvPicPr>
            <a:picLocks noChangeAspect="1"/>
          </p:cNvPicPr>
          <p:nvPr/>
        </p:nvPicPr>
        <p:blipFill>
          <a:blip r:embed="rId7" cstate="print">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60971" y="4405930"/>
            <a:ext cx="1055356" cy="1061994"/>
          </a:xfrm>
          <a:prstGeom prst="rect">
            <a:avLst/>
          </a:prstGeom>
        </p:spPr>
      </p:pic>
      <p:sp>
        <p:nvSpPr>
          <p:cNvPr id="4" name="Rectangle 1">
            <a:extLst>
              <a:ext uri="{FF2B5EF4-FFF2-40B4-BE49-F238E27FC236}">
                <a16:creationId xmlns:a16="http://schemas.microsoft.com/office/drawing/2014/main" id="{DCE4D1C9-D307-D994-02C3-EC7ED8412258}"/>
              </a:ext>
            </a:extLst>
          </p:cNvPr>
          <p:cNvSpPr>
            <a:spLocks noChangeArrowheads="1"/>
          </p:cNvSpPr>
          <p:nvPr/>
        </p:nvSpPr>
        <p:spPr bwMode="auto">
          <a:xfrm>
            <a:off x="147484" y="80805"/>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6A769E69-A248-F0C8-149E-8115832989F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184012" y="1527530"/>
            <a:ext cx="8457820" cy="5064999"/>
          </a:xfrm>
          <a:prstGeom prst="rect">
            <a:avLst/>
          </a:prstGeom>
        </p:spPr>
      </p:pic>
    </p:spTree>
    <p:extLst>
      <p:ext uri="{BB962C8B-B14F-4D97-AF65-F5344CB8AC3E}">
        <p14:creationId xmlns:p14="http://schemas.microsoft.com/office/powerpoint/2010/main" val="2499396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872261" y="600076"/>
            <a:ext cx="4007404"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Block Diagram</a:t>
            </a:r>
            <a:endParaRPr lang="en-US" sz="2400" dirty="0">
              <a:latin typeface="Agency FB" panose="020B0503020202020204" pitchFamily="34" charset="0"/>
            </a:endParaRPr>
          </a:p>
        </p:txBody>
      </p:sp>
      <p:pic>
        <p:nvPicPr>
          <p:cNvPr id="17" name="Picture 2" descr="KL Deemed to be University Logo"/>
          <p:cNvPicPr>
            <a:picLocks noChangeAspect="1" noChangeArrowheads="1"/>
          </p:cNvPicPr>
          <p:nvPr/>
        </p:nvPicPr>
        <p:blipFill>
          <a:blip r:embed="rId2"/>
          <a:srcRect/>
          <a:stretch>
            <a:fillRect/>
          </a:stretch>
        </p:blipFill>
        <p:spPr bwMode="auto">
          <a:xfrm>
            <a:off x="132080" y="193040"/>
            <a:ext cx="1990725" cy="600076"/>
          </a:xfrm>
          <a:prstGeom prst="rect">
            <a:avLst/>
          </a:prstGeom>
          <a:noFill/>
        </p:spPr>
      </p:pic>
      <p:pic>
        <p:nvPicPr>
          <p:cNvPr id="3" name="Picture 2">
            <a:extLst>
              <a:ext uri="{FF2B5EF4-FFF2-40B4-BE49-F238E27FC236}">
                <a16:creationId xmlns:a16="http://schemas.microsoft.com/office/drawing/2014/main" id="{1B3878EE-0E41-4949-3F5F-D802AA797D01}"/>
              </a:ext>
            </a:extLst>
          </p:cNvPr>
          <p:cNvPicPr>
            <a:picLocks noChangeAspect="1"/>
          </p:cNvPicPr>
          <p:nvPr/>
        </p:nvPicPr>
        <p:blipFill>
          <a:blip r:embed="rId3"/>
          <a:srcRect t="34330"/>
          <a:stretch>
            <a:fillRect/>
          </a:stretch>
        </p:blipFill>
        <p:spPr>
          <a:xfrm>
            <a:off x="231115" y="1782688"/>
            <a:ext cx="11574968" cy="4475236"/>
          </a:xfrm>
          <a:prstGeom prst="rect">
            <a:avLst/>
          </a:prstGeom>
        </p:spPr>
      </p:pic>
    </p:spTree>
    <p:extLst>
      <p:ext uri="{BB962C8B-B14F-4D97-AF65-F5344CB8AC3E}">
        <p14:creationId xmlns:p14="http://schemas.microsoft.com/office/powerpoint/2010/main" val="237793727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4125651" y="600076"/>
            <a:ext cx="3376361"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Methodology / Working</a:t>
            </a:r>
            <a:endParaRPr lang="en-US" sz="1600" dirty="0">
              <a:latin typeface="Agency FB" panose="020B0503020202020204" pitchFamily="34" charset="0"/>
            </a:endParaRPr>
          </a:p>
        </p:txBody>
      </p:sp>
      <p:pic>
        <p:nvPicPr>
          <p:cNvPr id="17" name="Picture 2" descr="KL Deemed to be University Logo"/>
          <p:cNvPicPr>
            <a:picLocks noChangeAspect="1" noChangeArrowheads="1"/>
          </p:cNvPicPr>
          <p:nvPr/>
        </p:nvPicPr>
        <p:blipFill>
          <a:blip r:embed="rId3"/>
          <a:srcRect/>
          <a:stretch>
            <a:fillRect/>
          </a:stretch>
        </p:blipFill>
        <p:spPr bwMode="auto">
          <a:xfrm>
            <a:off x="142240" y="205560"/>
            <a:ext cx="1990725" cy="600076"/>
          </a:xfrm>
          <a:prstGeom prst="rect">
            <a:avLst/>
          </a:prstGeom>
          <a:noFill/>
        </p:spPr>
      </p:pic>
      <p:sp>
        <p:nvSpPr>
          <p:cNvPr id="2" name="Text 0">
            <a:extLst>
              <a:ext uri="{FF2B5EF4-FFF2-40B4-BE49-F238E27FC236}">
                <a16:creationId xmlns:a16="http://schemas.microsoft.com/office/drawing/2014/main" id="{ECB9E9C0-E14C-CC4D-2275-467699CF828F}"/>
              </a:ext>
            </a:extLst>
          </p:cNvPr>
          <p:cNvSpPr/>
          <p:nvPr/>
        </p:nvSpPr>
        <p:spPr>
          <a:xfrm>
            <a:off x="793790" y="659249"/>
            <a:ext cx="4252913" cy="531614"/>
          </a:xfrm>
          <a:prstGeom prst="rect">
            <a:avLst/>
          </a:prstGeom>
          <a:noFill/>
          <a:ln/>
        </p:spPr>
        <p:txBody>
          <a:bodyPr wrap="none" lIns="0" tIns="0" rIns="0" bIns="0" rtlCol="0" anchor="t"/>
          <a:lstStyle/>
          <a:p>
            <a:pPr marL="0" indent="0" algn="l">
              <a:lnSpc>
                <a:spcPts val="4150"/>
              </a:lnSpc>
              <a:buNone/>
            </a:pPr>
            <a:endParaRPr lang="en-US" sz="1600" dirty="0"/>
          </a:p>
        </p:txBody>
      </p:sp>
      <p:pic>
        <p:nvPicPr>
          <p:cNvPr id="3" name="Image 0" descr="preencoded.png">
            <a:extLst>
              <a:ext uri="{FF2B5EF4-FFF2-40B4-BE49-F238E27FC236}">
                <a16:creationId xmlns:a16="http://schemas.microsoft.com/office/drawing/2014/main" id="{2CF88CFA-0DFA-211A-91E2-BB6845916CFE}"/>
              </a:ext>
            </a:extLst>
          </p:cNvPr>
          <p:cNvPicPr>
            <a:picLocks noChangeAspect="1"/>
          </p:cNvPicPr>
          <p:nvPr/>
        </p:nvPicPr>
        <p:blipFill>
          <a:blip r:embed="rId4"/>
          <a:stretch>
            <a:fillRect/>
          </a:stretch>
        </p:blipFill>
        <p:spPr>
          <a:xfrm>
            <a:off x="793790" y="1446014"/>
            <a:ext cx="850583" cy="1020723"/>
          </a:xfrm>
          <a:prstGeom prst="rect">
            <a:avLst/>
          </a:prstGeom>
        </p:spPr>
      </p:pic>
      <p:sp>
        <p:nvSpPr>
          <p:cNvPr id="6" name="Text 1">
            <a:extLst>
              <a:ext uri="{FF2B5EF4-FFF2-40B4-BE49-F238E27FC236}">
                <a16:creationId xmlns:a16="http://schemas.microsoft.com/office/drawing/2014/main" id="{42E81750-DFDC-B654-85C7-AC7DF30BEBC8}"/>
              </a:ext>
            </a:extLst>
          </p:cNvPr>
          <p:cNvSpPr/>
          <p:nvPr/>
        </p:nvSpPr>
        <p:spPr>
          <a:xfrm>
            <a:off x="1771888" y="1616035"/>
            <a:ext cx="2126456" cy="265747"/>
          </a:xfrm>
          <a:prstGeom prst="rect">
            <a:avLst/>
          </a:prstGeom>
          <a:noFill/>
          <a:ln/>
        </p:spPr>
        <p:txBody>
          <a:bodyPr wrap="none" lIns="0" tIns="0" rIns="0" bIns="0" rtlCol="0" anchor="t"/>
          <a:lstStyle/>
          <a:p>
            <a:pPr marL="0" indent="0" algn="l">
              <a:lnSpc>
                <a:spcPts val="2050"/>
              </a:lnSpc>
              <a:buNone/>
            </a:pPr>
            <a:r>
              <a:rPr lang="en-US" sz="1600" dirty="0">
                <a:solidFill>
                  <a:srgbClr val="15213F"/>
                </a:solidFill>
                <a:latin typeface="Roboto Slab" pitchFamily="34" charset="0"/>
                <a:ea typeface="Roboto Slab" pitchFamily="34" charset="-122"/>
                <a:cs typeface="Roboto Slab" pitchFamily="34" charset="-120"/>
              </a:rPr>
              <a:t>Sensor Detection</a:t>
            </a:r>
            <a:endParaRPr lang="en-US" sz="1600" dirty="0"/>
          </a:p>
        </p:txBody>
      </p:sp>
      <p:sp>
        <p:nvSpPr>
          <p:cNvPr id="7" name="Text 2">
            <a:extLst>
              <a:ext uri="{FF2B5EF4-FFF2-40B4-BE49-F238E27FC236}">
                <a16:creationId xmlns:a16="http://schemas.microsoft.com/office/drawing/2014/main" id="{BD3F182E-E1E4-6A1F-25D1-DF0D7B2539CE}"/>
              </a:ext>
            </a:extLst>
          </p:cNvPr>
          <p:cNvSpPr/>
          <p:nvPr/>
        </p:nvSpPr>
        <p:spPr>
          <a:xfrm>
            <a:off x="1771888" y="1958221"/>
            <a:ext cx="12064722" cy="238125"/>
          </a:xfrm>
          <a:prstGeom prst="rect">
            <a:avLst/>
          </a:prstGeom>
          <a:noFill/>
          <a:ln/>
        </p:spPr>
        <p:txBody>
          <a:bodyPr wrap="none" lIns="0" tIns="0" rIns="0" bIns="0" rtlCol="0" anchor="t"/>
          <a:lstStyle/>
          <a:p>
            <a:pPr marL="0" indent="0" algn="l">
              <a:lnSpc>
                <a:spcPts val="1850"/>
              </a:lnSpc>
              <a:buNone/>
            </a:pPr>
            <a:r>
              <a:rPr lang="en-US" sz="1600" dirty="0">
                <a:solidFill>
                  <a:srgbClr val="15213F"/>
                </a:solidFill>
                <a:latin typeface="Roboto" pitchFamily="34" charset="0"/>
                <a:ea typeface="Roboto" pitchFamily="34" charset="-122"/>
                <a:cs typeface="Roboto" pitchFamily="34" charset="-120"/>
              </a:rPr>
              <a:t>Ultrasonic sensors and accelerometer continuously monitor road conditions and vehicle state</a:t>
            </a:r>
            <a:endParaRPr lang="en-US" sz="1600" dirty="0"/>
          </a:p>
        </p:txBody>
      </p:sp>
      <p:pic>
        <p:nvPicPr>
          <p:cNvPr id="8" name="Image 1" descr="preencoded.png">
            <a:extLst>
              <a:ext uri="{FF2B5EF4-FFF2-40B4-BE49-F238E27FC236}">
                <a16:creationId xmlns:a16="http://schemas.microsoft.com/office/drawing/2014/main" id="{204B35B5-F330-AD16-6DF5-F0ED657483D6}"/>
              </a:ext>
            </a:extLst>
          </p:cNvPr>
          <p:cNvPicPr>
            <a:picLocks noChangeAspect="1"/>
          </p:cNvPicPr>
          <p:nvPr/>
        </p:nvPicPr>
        <p:blipFill>
          <a:blip r:embed="rId5"/>
          <a:stretch>
            <a:fillRect/>
          </a:stretch>
        </p:blipFill>
        <p:spPr>
          <a:xfrm>
            <a:off x="793790" y="2466737"/>
            <a:ext cx="850583" cy="1020723"/>
          </a:xfrm>
          <a:prstGeom prst="rect">
            <a:avLst/>
          </a:prstGeom>
        </p:spPr>
      </p:pic>
      <p:sp>
        <p:nvSpPr>
          <p:cNvPr id="9" name="Text 3">
            <a:extLst>
              <a:ext uri="{FF2B5EF4-FFF2-40B4-BE49-F238E27FC236}">
                <a16:creationId xmlns:a16="http://schemas.microsoft.com/office/drawing/2014/main" id="{5E01C5B7-6480-03C2-AAEF-42398235E57B}"/>
              </a:ext>
            </a:extLst>
          </p:cNvPr>
          <p:cNvSpPr/>
          <p:nvPr/>
        </p:nvSpPr>
        <p:spPr>
          <a:xfrm>
            <a:off x="1771888" y="2636758"/>
            <a:ext cx="2126456" cy="265747"/>
          </a:xfrm>
          <a:prstGeom prst="rect">
            <a:avLst/>
          </a:prstGeom>
          <a:noFill/>
          <a:ln/>
        </p:spPr>
        <p:txBody>
          <a:bodyPr wrap="none" lIns="0" tIns="0" rIns="0" bIns="0" rtlCol="0" anchor="t"/>
          <a:lstStyle/>
          <a:p>
            <a:pPr marL="0" indent="0" algn="l">
              <a:lnSpc>
                <a:spcPts val="2050"/>
              </a:lnSpc>
              <a:buNone/>
            </a:pPr>
            <a:r>
              <a:rPr lang="en-US" sz="1600" dirty="0">
                <a:solidFill>
                  <a:srgbClr val="15213F"/>
                </a:solidFill>
                <a:latin typeface="Roboto Slab" pitchFamily="34" charset="0"/>
                <a:ea typeface="Roboto Slab" pitchFamily="34" charset="-122"/>
                <a:cs typeface="Roboto Slab" pitchFamily="34" charset="-120"/>
              </a:rPr>
              <a:t>Data Processing</a:t>
            </a:r>
            <a:endParaRPr lang="en-US" sz="1600" dirty="0"/>
          </a:p>
        </p:txBody>
      </p:sp>
      <p:sp>
        <p:nvSpPr>
          <p:cNvPr id="10" name="Text 4">
            <a:extLst>
              <a:ext uri="{FF2B5EF4-FFF2-40B4-BE49-F238E27FC236}">
                <a16:creationId xmlns:a16="http://schemas.microsoft.com/office/drawing/2014/main" id="{068367BF-4F74-9DCA-4A3A-CD46BD4D6622}"/>
              </a:ext>
            </a:extLst>
          </p:cNvPr>
          <p:cNvSpPr/>
          <p:nvPr/>
        </p:nvSpPr>
        <p:spPr>
          <a:xfrm>
            <a:off x="1771888" y="2978944"/>
            <a:ext cx="12064722" cy="238125"/>
          </a:xfrm>
          <a:prstGeom prst="rect">
            <a:avLst/>
          </a:prstGeom>
          <a:noFill/>
          <a:ln/>
        </p:spPr>
        <p:txBody>
          <a:bodyPr wrap="none" lIns="0" tIns="0" rIns="0" bIns="0" rtlCol="0" anchor="t"/>
          <a:lstStyle/>
          <a:p>
            <a:pPr marL="0" indent="0" algn="l">
              <a:lnSpc>
                <a:spcPts val="1850"/>
              </a:lnSpc>
              <a:buNone/>
            </a:pPr>
            <a:r>
              <a:rPr lang="en-US" sz="1600" dirty="0">
                <a:solidFill>
                  <a:srgbClr val="15213F"/>
                </a:solidFill>
                <a:latin typeface="Roboto" pitchFamily="34" charset="0"/>
                <a:ea typeface="Roboto" pitchFamily="34" charset="-122"/>
                <a:cs typeface="Roboto" pitchFamily="34" charset="-120"/>
              </a:rPr>
              <a:t>ESP32 processes raw sensor data and identifies potential hazards in real-time</a:t>
            </a:r>
            <a:endParaRPr lang="en-US" sz="1600" dirty="0"/>
          </a:p>
        </p:txBody>
      </p:sp>
      <p:pic>
        <p:nvPicPr>
          <p:cNvPr id="11" name="Image 2" descr="preencoded.png">
            <a:extLst>
              <a:ext uri="{FF2B5EF4-FFF2-40B4-BE49-F238E27FC236}">
                <a16:creationId xmlns:a16="http://schemas.microsoft.com/office/drawing/2014/main" id="{EF9C1DC5-F7F8-A4DE-19F1-B564FF27F6EE}"/>
              </a:ext>
            </a:extLst>
          </p:cNvPr>
          <p:cNvPicPr>
            <a:picLocks noChangeAspect="1"/>
          </p:cNvPicPr>
          <p:nvPr/>
        </p:nvPicPr>
        <p:blipFill>
          <a:blip r:embed="rId6"/>
          <a:stretch>
            <a:fillRect/>
          </a:stretch>
        </p:blipFill>
        <p:spPr>
          <a:xfrm>
            <a:off x="793790" y="3487460"/>
            <a:ext cx="850583" cy="1020723"/>
          </a:xfrm>
          <a:prstGeom prst="rect">
            <a:avLst/>
          </a:prstGeom>
        </p:spPr>
      </p:pic>
      <p:sp>
        <p:nvSpPr>
          <p:cNvPr id="12" name="Text 5">
            <a:extLst>
              <a:ext uri="{FF2B5EF4-FFF2-40B4-BE49-F238E27FC236}">
                <a16:creationId xmlns:a16="http://schemas.microsoft.com/office/drawing/2014/main" id="{D29209B2-0A36-1173-A7B6-C76951D730BB}"/>
              </a:ext>
            </a:extLst>
          </p:cNvPr>
          <p:cNvSpPr/>
          <p:nvPr/>
        </p:nvSpPr>
        <p:spPr>
          <a:xfrm>
            <a:off x="1771888" y="3657481"/>
            <a:ext cx="2126456" cy="265747"/>
          </a:xfrm>
          <a:prstGeom prst="rect">
            <a:avLst/>
          </a:prstGeom>
          <a:noFill/>
          <a:ln/>
        </p:spPr>
        <p:txBody>
          <a:bodyPr wrap="none" lIns="0" tIns="0" rIns="0" bIns="0" rtlCol="0" anchor="t"/>
          <a:lstStyle/>
          <a:p>
            <a:pPr marL="0" indent="0" algn="l">
              <a:lnSpc>
                <a:spcPts val="2050"/>
              </a:lnSpc>
              <a:buNone/>
            </a:pPr>
            <a:r>
              <a:rPr lang="en-US" sz="1600" dirty="0">
                <a:solidFill>
                  <a:srgbClr val="15213F"/>
                </a:solidFill>
                <a:latin typeface="Roboto Slab" pitchFamily="34" charset="0"/>
                <a:ea typeface="Roboto Slab" pitchFamily="34" charset="-122"/>
                <a:cs typeface="Roboto Slab" pitchFamily="34" charset="-120"/>
              </a:rPr>
              <a:t>Speed Calculation</a:t>
            </a:r>
            <a:endParaRPr lang="en-US" sz="1600" dirty="0"/>
          </a:p>
        </p:txBody>
      </p:sp>
      <p:sp>
        <p:nvSpPr>
          <p:cNvPr id="13" name="Text 6">
            <a:extLst>
              <a:ext uri="{FF2B5EF4-FFF2-40B4-BE49-F238E27FC236}">
                <a16:creationId xmlns:a16="http://schemas.microsoft.com/office/drawing/2014/main" id="{055554D2-0E16-AE6E-64BF-658D3E9E6A83}"/>
              </a:ext>
            </a:extLst>
          </p:cNvPr>
          <p:cNvSpPr/>
          <p:nvPr/>
        </p:nvSpPr>
        <p:spPr>
          <a:xfrm>
            <a:off x="1771888" y="3999667"/>
            <a:ext cx="12064722" cy="238125"/>
          </a:xfrm>
          <a:prstGeom prst="rect">
            <a:avLst/>
          </a:prstGeom>
          <a:noFill/>
          <a:ln/>
        </p:spPr>
        <p:txBody>
          <a:bodyPr wrap="none" lIns="0" tIns="0" rIns="0" bIns="0" rtlCol="0" anchor="t"/>
          <a:lstStyle/>
          <a:p>
            <a:pPr marL="0" indent="0" algn="l">
              <a:lnSpc>
                <a:spcPts val="1850"/>
              </a:lnSpc>
              <a:buNone/>
            </a:pPr>
            <a:r>
              <a:rPr lang="en-US" sz="1600" dirty="0">
                <a:solidFill>
                  <a:srgbClr val="15213F"/>
                </a:solidFill>
                <a:latin typeface="Roboto" pitchFamily="34" charset="0"/>
                <a:ea typeface="Roboto" pitchFamily="34" charset="-122"/>
                <a:cs typeface="Roboto" pitchFamily="34" charset="-120"/>
              </a:rPr>
              <a:t>Vehicle speed determined from motion sensors for transmission to nearby vehicles</a:t>
            </a:r>
            <a:endParaRPr lang="en-US" sz="1600" dirty="0"/>
          </a:p>
        </p:txBody>
      </p:sp>
      <p:pic>
        <p:nvPicPr>
          <p:cNvPr id="14" name="Image 3" descr="preencoded.png">
            <a:extLst>
              <a:ext uri="{FF2B5EF4-FFF2-40B4-BE49-F238E27FC236}">
                <a16:creationId xmlns:a16="http://schemas.microsoft.com/office/drawing/2014/main" id="{77AB4CAB-39F3-1AB9-3433-B730FD7DFAA3}"/>
              </a:ext>
            </a:extLst>
          </p:cNvPr>
          <p:cNvPicPr>
            <a:picLocks noChangeAspect="1"/>
          </p:cNvPicPr>
          <p:nvPr/>
        </p:nvPicPr>
        <p:blipFill>
          <a:blip r:embed="rId7"/>
          <a:stretch>
            <a:fillRect/>
          </a:stretch>
        </p:blipFill>
        <p:spPr>
          <a:xfrm>
            <a:off x="793790" y="4508183"/>
            <a:ext cx="850583" cy="1020723"/>
          </a:xfrm>
          <a:prstGeom prst="rect">
            <a:avLst/>
          </a:prstGeom>
        </p:spPr>
      </p:pic>
      <p:sp>
        <p:nvSpPr>
          <p:cNvPr id="15" name="Text 7">
            <a:extLst>
              <a:ext uri="{FF2B5EF4-FFF2-40B4-BE49-F238E27FC236}">
                <a16:creationId xmlns:a16="http://schemas.microsoft.com/office/drawing/2014/main" id="{88089377-2845-0CCE-7DE6-86E1DB862A85}"/>
              </a:ext>
            </a:extLst>
          </p:cNvPr>
          <p:cNvSpPr/>
          <p:nvPr/>
        </p:nvSpPr>
        <p:spPr>
          <a:xfrm>
            <a:off x="1771888" y="4678204"/>
            <a:ext cx="2126456" cy="265747"/>
          </a:xfrm>
          <a:prstGeom prst="rect">
            <a:avLst/>
          </a:prstGeom>
          <a:noFill/>
          <a:ln/>
        </p:spPr>
        <p:txBody>
          <a:bodyPr wrap="none" lIns="0" tIns="0" rIns="0" bIns="0" rtlCol="0" anchor="t"/>
          <a:lstStyle/>
          <a:p>
            <a:pPr marL="0" indent="0" algn="l">
              <a:lnSpc>
                <a:spcPts val="2050"/>
              </a:lnSpc>
              <a:buNone/>
            </a:pPr>
            <a:r>
              <a:rPr lang="en-US" sz="1600" dirty="0">
                <a:solidFill>
                  <a:srgbClr val="15213F"/>
                </a:solidFill>
                <a:latin typeface="Roboto Slab" pitchFamily="34" charset="0"/>
                <a:ea typeface="Roboto Slab" pitchFamily="34" charset="-122"/>
                <a:cs typeface="Roboto Slab" pitchFamily="34" charset="-120"/>
              </a:rPr>
              <a:t>Memory Storage</a:t>
            </a:r>
            <a:endParaRPr lang="en-US" sz="1600" dirty="0"/>
          </a:p>
        </p:txBody>
      </p:sp>
      <p:sp>
        <p:nvSpPr>
          <p:cNvPr id="16" name="Text 8">
            <a:extLst>
              <a:ext uri="{FF2B5EF4-FFF2-40B4-BE49-F238E27FC236}">
                <a16:creationId xmlns:a16="http://schemas.microsoft.com/office/drawing/2014/main" id="{4B3E17CB-89CC-7A1A-B328-51189E78BE77}"/>
              </a:ext>
            </a:extLst>
          </p:cNvPr>
          <p:cNvSpPr/>
          <p:nvPr/>
        </p:nvSpPr>
        <p:spPr>
          <a:xfrm>
            <a:off x="1771888" y="5020389"/>
            <a:ext cx="12064722" cy="238125"/>
          </a:xfrm>
          <a:prstGeom prst="rect">
            <a:avLst/>
          </a:prstGeom>
          <a:noFill/>
          <a:ln/>
        </p:spPr>
        <p:txBody>
          <a:bodyPr wrap="none" lIns="0" tIns="0" rIns="0" bIns="0" rtlCol="0" anchor="t"/>
          <a:lstStyle/>
          <a:p>
            <a:pPr marL="0" indent="0" algn="l">
              <a:lnSpc>
                <a:spcPts val="1850"/>
              </a:lnSpc>
              <a:buNone/>
            </a:pPr>
            <a:r>
              <a:rPr lang="en-US" sz="1600" dirty="0">
                <a:solidFill>
                  <a:srgbClr val="15213F"/>
                </a:solidFill>
                <a:latin typeface="Roboto" pitchFamily="34" charset="0"/>
                <a:ea typeface="Roboto" pitchFamily="34" charset="-122"/>
                <a:cs typeface="Roboto" pitchFamily="34" charset="-120"/>
              </a:rPr>
              <a:t>Hazard information stored with location and timestamp for historical reference</a:t>
            </a:r>
            <a:endParaRPr lang="en-US" sz="1600" dirty="0"/>
          </a:p>
        </p:txBody>
      </p:sp>
      <p:pic>
        <p:nvPicPr>
          <p:cNvPr id="18" name="Image 4" descr="preencoded.png">
            <a:extLst>
              <a:ext uri="{FF2B5EF4-FFF2-40B4-BE49-F238E27FC236}">
                <a16:creationId xmlns:a16="http://schemas.microsoft.com/office/drawing/2014/main" id="{812AE6BF-843C-9977-80DB-652B1874E96B}"/>
              </a:ext>
            </a:extLst>
          </p:cNvPr>
          <p:cNvPicPr>
            <a:picLocks noChangeAspect="1"/>
          </p:cNvPicPr>
          <p:nvPr/>
        </p:nvPicPr>
        <p:blipFill>
          <a:blip r:embed="rId8"/>
          <a:stretch>
            <a:fillRect/>
          </a:stretch>
        </p:blipFill>
        <p:spPr>
          <a:xfrm>
            <a:off x="793790" y="5528905"/>
            <a:ext cx="850583" cy="1020723"/>
          </a:xfrm>
          <a:prstGeom prst="rect">
            <a:avLst/>
          </a:prstGeom>
        </p:spPr>
      </p:pic>
      <p:sp>
        <p:nvSpPr>
          <p:cNvPr id="19" name="Text 9">
            <a:extLst>
              <a:ext uri="{FF2B5EF4-FFF2-40B4-BE49-F238E27FC236}">
                <a16:creationId xmlns:a16="http://schemas.microsoft.com/office/drawing/2014/main" id="{FD87DC41-F48F-A185-8FBF-8BB32688531A}"/>
              </a:ext>
            </a:extLst>
          </p:cNvPr>
          <p:cNvSpPr/>
          <p:nvPr/>
        </p:nvSpPr>
        <p:spPr>
          <a:xfrm>
            <a:off x="1771888" y="5698927"/>
            <a:ext cx="2324338" cy="265747"/>
          </a:xfrm>
          <a:prstGeom prst="rect">
            <a:avLst/>
          </a:prstGeom>
          <a:noFill/>
          <a:ln/>
        </p:spPr>
        <p:txBody>
          <a:bodyPr wrap="none" lIns="0" tIns="0" rIns="0" bIns="0" rtlCol="0" anchor="t"/>
          <a:lstStyle/>
          <a:p>
            <a:pPr marL="0" indent="0" algn="l">
              <a:lnSpc>
                <a:spcPts val="2050"/>
              </a:lnSpc>
              <a:buNone/>
            </a:pPr>
            <a:r>
              <a:rPr lang="en-US" sz="1600" dirty="0">
                <a:solidFill>
                  <a:srgbClr val="15213F"/>
                </a:solidFill>
                <a:latin typeface="Roboto Slab" pitchFamily="34" charset="0"/>
                <a:ea typeface="Roboto Slab" pitchFamily="34" charset="-122"/>
                <a:cs typeface="Roboto Slab" pitchFamily="34" charset="-120"/>
              </a:rPr>
              <a:t>Wireless Transmission</a:t>
            </a:r>
            <a:endParaRPr lang="en-US" sz="1600" dirty="0"/>
          </a:p>
        </p:txBody>
      </p:sp>
      <p:sp>
        <p:nvSpPr>
          <p:cNvPr id="20" name="Text 10">
            <a:extLst>
              <a:ext uri="{FF2B5EF4-FFF2-40B4-BE49-F238E27FC236}">
                <a16:creationId xmlns:a16="http://schemas.microsoft.com/office/drawing/2014/main" id="{3362A56E-A2A1-CB6B-8326-E44ADF4DBA4E}"/>
              </a:ext>
            </a:extLst>
          </p:cNvPr>
          <p:cNvSpPr/>
          <p:nvPr/>
        </p:nvSpPr>
        <p:spPr>
          <a:xfrm>
            <a:off x="1771888" y="6041112"/>
            <a:ext cx="12064722" cy="238125"/>
          </a:xfrm>
          <a:prstGeom prst="rect">
            <a:avLst/>
          </a:prstGeom>
          <a:noFill/>
          <a:ln/>
        </p:spPr>
        <p:txBody>
          <a:bodyPr wrap="none" lIns="0" tIns="0" rIns="0" bIns="0" rtlCol="0" anchor="t"/>
          <a:lstStyle/>
          <a:p>
            <a:pPr marL="0" indent="0" algn="l">
              <a:lnSpc>
                <a:spcPts val="1850"/>
              </a:lnSpc>
              <a:buNone/>
            </a:pPr>
            <a:r>
              <a:rPr lang="en-US" sz="1600" dirty="0">
                <a:solidFill>
                  <a:srgbClr val="15213F"/>
                </a:solidFill>
                <a:latin typeface="Roboto" pitchFamily="34" charset="0"/>
                <a:ea typeface="Roboto" pitchFamily="34" charset="-122"/>
                <a:cs typeface="Roboto" pitchFamily="34" charset="-120"/>
              </a:rPr>
              <a:t>ESP-NOW protocol broadcasts hazard data to nearby vehicles instantly</a:t>
            </a:r>
            <a:endParaRPr lang="en-US" sz="1600" dirty="0"/>
          </a:p>
        </p:txBody>
      </p:sp>
      <p:sp>
        <p:nvSpPr>
          <p:cNvPr id="22" name="Text 11">
            <a:extLst>
              <a:ext uri="{FF2B5EF4-FFF2-40B4-BE49-F238E27FC236}">
                <a16:creationId xmlns:a16="http://schemas.microsoft.com/office/drawing/2014/main" id="{DD6D44A2-EBFB-1652-63E9-9469932DE581}"/>
              </a:ext>
            </a:extLst>
          </p:cNvPr>
          <p:cNvSpPr/>
          <p:nvPr/>
        </p:nvSpPr>
        <p:spPr>
          <a:xfrm>
            <a:off x="1771888" y="6719649"/>
            <a:ext cx="2126456" cy="265747"/>
          </a:xfrm>
          <a:prstGeom prst="rect">
            <a:avLst/>
          </a:prstGeom>
          <a:noFill/>
          <a:ln/>
        </p:spPr>
        <p:txBody>
          <a:bodyPr wrap="none" lIns="0" tIns="0" rIns="0" bIns="0" rtlCol="0" anchor="t"/>
          <a:lstStyle/>
          <a:p>
            <a:pPr marL="0" indent="0" algn="l">
              <a:lnSpc>
                <a:spcPts val="2050"/>
              </a:lnSpc>
              <a:buNone/>
            </a:pPr>
            <a:endParaRPr lang="en-US" sz="1600" dirty="0"/>
          </a:p>
        </p:txBody>
      </p:sp>
      <p:sp>
        <p:nvSpPr>
          <p:cNvPr id="23" name="Text 12">
            <a:extLst>
              <a:ext uri="{FF2B5EF4-FFF2-40B4-BE49-F238E27FC236}">
                <a16:creationId xmlns:a16="http://schemas.microsoft.com/office/drawing/2014/main" id="{259885AE-7974-D2B8-6D0B-2ECC6B865B2A}"/>
              </a:ext>
            </a:extLst>
          </p:cNvPr>
          <p:cNvSpPr/>
          <p:nvPr/>
        </p:nvSpPr>
        <p:spPr>
          <a:xfrm>
            <a:off x="1771888" y="7061835"/>
            <a:ext cx="12064722" cy="238125"/>
          </a:xfrm>
          <a:prstGeom prst="rect">
            <a:avLst/>
          </a:prstGeom>
          <a:noFill/>
          <a:ln/>
        </p:spPr>
        <p:txBody>
          <a:bodyPr wrap="none" lIns="0" tIns="0" rIns="0" bIns="0" rtlCol="0" anchor="t"/>
          <a:lstStyle/>
          <a:p>
            <a:pPr marL="0" indent="0" algn="l">
              <a:lnSpc>
                <a:spcPts val="1850"/>
              </a:lnSpc>
              <a:buNone/>
            </a:pPr>
            <a:endParaRPr lang="en-US" sz="1600" dirty="0"/>
          </a:p>
        </p:txBody>
      </p:sp>
    </p:spTree>
    <p:extLst>
      <p:ext uri="{BB962C8B-B14F-4D97-AF65-F5344CB8AC3E}">
        <p14:creationId xmlns:p14="http://schemas.microsoft.com/office/powerpoint/2010/main" val="5416597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4406642" y="600076"/>
            <a:ext cx="271251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Flowchart</a:t>
            </a:r>
            <a:endParaRPr lang="en-US" sz="2400" dirty="0">
              <a:latin typeface="Agency FB" panose="020B0503020202020204" pitchFamily="34" charset="0"/>
            </a:endParaRPr>
          </a:p>
        </p:txBody>
      </p:sp>
      <p:pic>
        <p:nvPicPr>
          <p:cNvPr id="17" name="Picture 2" descr="KL Deemed to be University Logo"/>
          <p:cNvPicPr>
            <a:picLocks noChangeAspect="1" noChangeArrowheads="1"/>
          </p:cNvPicPr>
          <p:nvPr/>
        </p:nvPicPr>
        <p:blipFill>
          <a:blip r:embed="rId2"/>
          <a:srcRect/>
          <a:stretch>
            <a:fillRect/>
          </a:stretch>
        </p:blipFill>
        <p:spPr bwMode="auto">
          <a:xfrm>
            <a:off x="132080" y="190563"/>
            <a:ext cx="1990725" cy="600076"/>
          </a:xfrm>
          <a:prstGeom prst="rect">
            <a:avLst/>
          </a:prstGeom>
          <a:noFill/>
        </p:spPr>
      </p:pic>
      <p:pic>
        <p:nvPicPr>
          <p:cNvPr id="2" name="Picture 1">
            <a:extLst>
              <a:ext uri="{FF2B5EF4-FFF2-40B4-BE49-F238E27FC236}">
                <a16:creationId xmlns:a16="http://schemas.microsoft.com/office/drawing/2014/main" id="{AABC9B47-9B7D-FB45-41EF-EBF6DB24FF5E}"/>
              </a:ext>
            </a:extLst>
          </p:cNvPr>
          <p:cNvPicPr>
            <a:picLocks noChangeAspect="1"/>
          </p:cNvPicPr>
          <p:nvPr/>
        </p:nvPicPr>
        <p:blipFill>
          <a:blip r:embed="rId3"/>
          <a:srcRect t="7645" b="5273"/>
          <a:stretch>
            <a:fillRect/>
          </a:stretch>
        </p:blipFill>
        <p:spPr>
          <a:xfrm>
            <a:off x="1294745" y="1653661"/>
            <a:ext cx="9602509" cy="5013776"/>
          </a:xfrm>
          <a:prstGeom prst="rect">
            <a:avLst/>
          </a:prstGeom>
        </p:spPr>
      </p:pic>
    </p:spTree>
    <p:extLst>
      <p:ext uri="{BB962C8B-B14F-4D97-AF65-F5344CB8AC3E}">
        <p14:creationId xmlns:p14="http://schemas.microsoft.com/office/powerpoint/2010/main" val="996426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KL Deemed to be University Logo"/>
          <p:cNvPicPr>
            <a:picLocks noChangeAspect="1" noChangeArrowheads="1"/>
          </p:cNvPicPr>
          <p:nvPr/>
        </p:nvPicPr>
        <p:blipFill>
          <a:blip r:embed="rId2"/>
          <a:srcRect/>
          <a:stretch>
            <a:fillRect/>
          </a:stretch>
        </p:blipFill>
        <p:spPr bwMode="auto">
          <a:xfrm>
            <a:off x="162560" y="206146"/>
            <a:ext cx="1990725" cy="600076"/>
          </a:xfrm>
          <a:prstGeom prst="rect">
            <a:avLst/>
          </a:prstGeom>
          <a:noFill/>
        </p:spPr>
      </p:pic>
      <p:sp>
        <p:nvSpPr>
          <p:cNvPr id="2" name="Rounded Rectangle 17">
            <a:extLst>
              <a:ext uri="{FF2B5EF4-FFF2-40B4-BE49-F238E27FC236}">
                <a16:creationId xmlns:a16="http://schemas.microsoft.com/office/drawing/2014/main" id="{ED7FD29D-BBDE-078E-D487-E57247CDB50D}"/>
              </a:ext>
            </a:extLst>
          </p:cNvPr>
          <p:cNvSpPr/>
          <p:nvPr/>
        </p:nvSpPr>
        <p:spPr>
          <a:xfrm>
            <a:off x="3740410" y="600076"/>
            <a:ext cx="4568940"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Conclusion &amp; Future Scope</a:t>
            </a:r>
            <a:endParaRPr lang="en-US" sz="2400" dirty="0">
              <a:latin typeface="Agency FB" panose="020B0503020202020204" pitchFamily="34" charset="0"/>
            </a:endParaRPr>
          </a:p>
        </p:txBody>
      </p:sp>
      <p:sp>
        <p:nvSpPr>
          <p:cNvPr id="5" name="TextBox 4">
            <a:extLst>
              <a:ext uri="{FF2B5EF4-FFF2-40B4-BE49-F238E27FC236}">
                <a16:creationId xmlns:a16="http://schemas.microsoft.com/office/drawing/2014/main" id="{3557F94D-869C-3AC4-BE0F-ACE755AE60CB}"/>
              </a:ext>
            </a:extLst>
          </p:cNvPr>
          <p:cNvSpPr txBox="1"/>
          <p:nvPr/>
        </p:nvSpPr>
        <p:spPr>
          <a:xfrm>
            <a:off x="2926080" y="1473201"/>
            <a:ext cx="8067040" cy="4065857"/>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Demonstrated a low-cost cooperative vehicle safety system.</a:t>
            </a:r>
          </a:p>
          <a:p>
            <a:pPr marL="285750" indent="-285750">
              <a:lnSpc>
                <a:spcPct val="1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Achieved real-time communication between vehicles.</a:t>
            </a:r>
          </a:p>
          <a:p>
            <a:pPr marL="285750" indent="-285750">
              <a:lnSpc>
                <a:spcPct val="1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Improved awareness and emergency response capability.</a:t>
            </a:r>
          </a:p>
          <a:p>
            <a:pPr>
              <a:lnSpc>
                <a:spcPct val="150000"/>
              </a:lnSpc>
              <a:buNone/>
            </a:pPr>
            <a:r>
              <a:rPr lang="en-US" sz="2400" b="1" dirty="0">
                <a:latin typeface="Times New Roman" panose="02020603050405020304" pitchFamily="18" charset="0"/>
                <a:cs typeface="Times New Roman" panose="02020603050405020304" pitchFamily="18" charset="0"/>
              </a:rPr>
              <a:t>Future Scope:</a:t>
            </a:r>
            <a:endParaRPr lang="en-US" sz="24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Integration with GPS and cloud</a:t>
            </a:r>
          </a:p>
          <a:p>
            <a:pPr marL="285750" indent="-285750">
              <a:lnSpc>
                <a:spcPct val="1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Automotive-grade controllers (CAN)</a:t>
            </a:r>
          </a:p>
          <a:p>
            <a:pPr marL="285750" indent="-285750">
              <a:lnSpc>
                <a:spcPct val="1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Smart traffic signal integration</a:t>
            </a:r>
          </a:p>
          <a:p>
            <a:pPr marL="285750" indent="-285750">
              <a:lnSpc>
                <a:spcPct val="1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Multi-vehicle network</a:t>
            </a:r>
          </a:p>
        </p:txBody>
      </p:sp>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lose-up of water droplet on a leaf">
            <a:extLst>
              <a:ext uri="{FF2B5EF4-FFF2-40B4-BE49-F238E27FC236}">
                <a16:creationId xmlns:a16="http://schemas.microsoft.com/office/drawing/2014/main" id="{BE1F3FF1-7490-5AF2-82FC-F180A7F08958}"/>
              </a:ext>
            </a:extLst>
          </p:cNvPr>
          <p:cNvPicPr>
            <a:picLocks noChangeAspect="1"/>
          </p:cNvPicPr>
          <p:nvPr/>
        </p:nvPicPr>
        <p:blipFill>
          <a:blip r:embed="rId2" cstate="print">
            <a:extLst>
              <a:ext uri="{28A0092B-C50C-407E-A947-70E740481C1C}">
                <a14:useLocalDpi xmlns:a14="http://schemas.microsoft.com/office/drawing/2010/main" val="0"/>
              </a:ext>
            </a:extLst>
          </a:blip>
          <a:srcRect l="7802" r="7802"/>
          <a:stretch/>
        </p:blipFill>
        <p:spPr>
          <a:xfrm>
            <a:off x="0" y="3250970"/>
            <a:ext cx="5411864" cy="3607029"/>
          </a:xfrm>
          <a:prstGeom prst="rect">
            <a:avLst/>
          </a:prstGeom>
        </p:spPr>
      </p:pic>
      <p:pic>
        <p:nvPicPr>
          <p:cNvPr id="3" name="Picture 2" descr="Abstract render of glass nodes and mesh">
            <a:extLst>
              <a:ext uri="{FF2B5EF4-FFF2-40B4-BE49-F238E27FC236}">
                <a16:creationId xmlns:a16="http://schemas.microsoft.com/office/drawing/2014/main" id="{A8E88C5D-D746-457B-2977-4C697E77A886}"/>
              </a:ext>
            </a:extLst>
          </p:cNvPr>
          <p:cNvPicPr>
            <a:picLocks noChangeAspect="1"/>
          </p:cNvPicPr>
          <p:nvPr/>
        </p:nvPicPr>
        <p:blipFill>
          <a:blip r:embed="rId3" cstate="print">
            <a:extLst>
              <a:ext uri="{28A0092B-C50C-407E-A947-70E740481C1C}">
                <a14:useLocalDpi xmlns:a14="http://schemas.microsoft.com/office/drawing/2010/main" val="0"/>
              </a:ext>
            </a:extLst>
          </a:blip>
          <a:srcRect t="537" b="537"/>
          <a:stretch/>
        </p:blipFill>
        <p:spPr>
          <a:xfrm>
            <a:off x="6668801" y="0"/>
            <a:ext cx="5523199" cy="3607029"/>
          </a:xfrm>
          <a:prstGeom prst="rect">
            <a:avLst/>
          </a:prstGeom>
        </p:spPr>
      </p:pic>
      <p:sp>
        <p:nvSpPr>
          <p:cNvPr id="4" name="Rounded Rectangle 3">
            <a:extLst>
              <a:ext uri="{FF2B5EF4-FFF2-40B4-BE49-F238E27FC236}">
                <a16:creationId xmlns:a16="http://schemas.microsoft.com/office/drawing/2014/main" id="{E792BE84-3448-2348-B352-CD5BC083E5FD}"/>
              </a:ext>
            </a:extLst>
          </p:cNvPr>
          <p:cNvSpPr/>
          <p:nvPr/>
        </p:nvSpPr>
        <p:spPr>
          <a:xfrm>
            <a:off x="1988658" y="1987061"/>
            <a:ext cx="7920111" cy="2883877"/>
          </a:xfrm>
          <a:prstGeom prst="roundRect">
            <a:avLst/>
          </a:prstGeom>
          <a:solidFill>
            <a:schemeClr val="bg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gency FB" panose="020B0503020202020204" pitchFamily="34" charset="0"/>
                <a:cs typeface="Poppins" pitchFamily="2" charset="77"/>
              </a:rPr>
              <a:t>THANK YOU</a:t>
            </a:r>
          </a:p>
          <a:p>
            <a:pPr algn="ctr"/>
            <a:endParaRPr lang="en-US" sz="2800" dirty="0">
              <a:solidFill>
                <a:schemeClr val="tx1"/>
              </a:solidFill>
              <a:latin typeface="Agency FB" panose="020B0503020202020204" pitchFamily="34" charset="0"/>
              <a:cs typeface="Poppins" pitchFamily="2" charset="77"/>
            </a:endParaRPr>
          </a:p>
          <a:p>
            <a:pPr algn="ctr"/>
            <a:endParaRPr lang="en-US" sz="2800" dirty="0">
              <a:solidFill>
                <a:schemeClr val="tx1"/>
              </a:solidFill>
              <a:latin typeface="Agency FB" panose="020B0503020202020204" pitchFamily="34" charset="0"/>
              <a:cs typeface="Poppins" pitchFamily="2" charset="77"/>
            </a:endParaRPr>
          </a:p>
          <a:p>
            <a:pPr algn="ctr"/>
            <a:endParaRPr lang="en-US" sz="2800" dirty="0">
              <a:solidFill>
                <a:schemeClr val="tx1"/>
              </a:solidFill>
              <a:latin typeface="Agency FB" panose="020B0503020202020204" pitchFamily="34" charset="0"/>
              <a:cs typeface="Poppins" pitchFamily="2" charset="77"/>
            </a:endParaRPr>
          </a:p>
          <a:p>
            <a:pPr marR="0" lvl="0" indent="0" algn="ctr">
              <a:spcBef>
                <a:spcPts val="0"/>
              </a:spcBef>
              <a:spcAft>
                <a:spcPts val="0"/>
              </a:spcAft>
              <a:buNone/>
            </a:pPr>
            <a:r>
              <a:rPr lang="en-IN" sz="2800" b="1" dirty="0">
                <a:solidFill>
                  <a:schemeClr val="tx1"/>
                </a:solidFill>
                <a:latin typeface="Times New Roman" panose="02020603050405020304" pitchFamily="18" charset="0"/>
                <a:cs typeface="Times New Roman" panose="02020603050405020304" pitchFamily="18" charset="0"/>
              </a:rPr>
              <a:t>EMBEDDED PROTOTYPE</a:t>
            </a:r>
          </a:p>
        </p:txBody>
      </p:sp>
      <p:pic>
        <p:nvPicPr>
          <p:cNvPr id="6" name="Picture 2" descr="KL Deemed to be University Logo"/>
          <p:cNvPicPr>
            <a:picLocks noChangeAspect="1" noChangeArrowheads="1"/>
          </p:cNvPicPr>
          <p:nvPr/>
        </p:nvPicPr>
        <p:blipFill>
          <a:blip r:embed="rId4"/>
          <a:srcRect/>
          <a:stretch>
            <a:fillRect/>
          </a:stretch>
        </p:blipFill>
        <p:spPr bwMode="auto">
          <a:xfrm>
            <a:off x="4939187" y="2812497"/>
            <a:ext cx="3235570" cy="1083212"/>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12519431157564F9201AF4BC2FEACD3" ma:contentTypeVersion="6" ma:contentTypeDescription="Create a new document." ma:contentTypeScope="" ma:versionID="8073f79857fadeec545986a1825fc259">
  <xsd:schema xmlns:xsd="http://www.w3.org/2001/XMLSchema" xmlns:xs="http://www.w3.org/2001/XMLSchema" xmlns:p="http://schemas.microsoft.com/office/2006/metadata/properties" xmlns:ns3="2040adea-6839-447d-bd0d-6d532fe2a037" targetNamespace="http://schemas.microsoft.com/office/2006/metadata/properties" ma:root="true" ma:fieldsID="a6740e22eac9a6061b8ba45743d3bc8b" ns3:_="">
    <xsd:import namespace="2040adea-6839-447d-bd0d-6d532fe2a03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40adea-6839-447d-bd0d-6d532fe2a03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2040adea-6839-447d-bd0d-6d532fe2a037" xsi:nil="true"/>
  </documentManagement>
</p:properties>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4CCC00CD-EA79-4086-89DF-CE795347B1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40adea-6839-447d-bd0d-6d532fe2a0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BD0A98-E68B-4DAA-8964-2F739D6D4075}">
  <ds:schemaRefs>
    <ds:schemaRef ds:uri="http://www.w3.org/XML/1998/namespace"/>
    <ds:schemaRef ds:uri="http://purl.org/dc/elements/1.1/"/>
    <ds:schemaRef ds:uri="2040adea-6839-447d-bd0d-6d532fe2a037"/>
    <ds:schemaRef ds:uri="http://schemas.microsoft.com/office/2006/documentManagement/types"/>
    <ds:schemaRef ds:uri="http://purl.org/dc/dcmitype/"/>
    <ds:schemaRef ds:uri="http://purl.org/dc/terms/"/>
    <ds:schemaRef ds:uri="http://schemas.microsoft.com/office/2006/metadata/properti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699</TotalTime>
  <Words>294</Words>
  <Application>Microsoft Office PowerPoint</Application>
  <PresentationFormat>Widescreen</PresentationFormat>
  <Paragraphs>57</Paragraphs>
  <Slides>9</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Agency FB</vt:lpstr>
      <vt:lpstr>Arial</vt:lpstr>
      <vt:lpstr>Calibri</vt:lpstr>
      <vt:lpstr>Calibri Light</vt:lpstr>
      <vt:lpstr>Poppins</vt:lpstr>
      <vt:lpstr>Roboto</vt:lpstr>
      <vt:lpstr>Roboto Slab</vt:lpstr>
      <vt:lpstr>Times New Roman</vt:lpstr>
      <vt:lpstr>Tw Cen MT Condensed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B NANDI VARDHAN REDDY</cp:lastModifiedBy>
  <cp:revision>54</cp:revision>
  <dcterms:created xsi:type="dcterms:W3CDTF">2020-02-08T09:57:44Z</dcterms:created>
  <dcterms:modified xsi:type="dcterms:W3CDTF">2026-02-28T05:28:52Z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0x010100A12519431157564F9201AF4BC2FEACD3</vt:lpwstr>
  </property>
</Properties>
</file>